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09760" y="822960"/>
            <a:ext cx="2194560" cy="50292"/>
          </a:xfrm>
          <a:prstGeom prst="rect">
            <a:avLst/>
          </a:prstGeom>
          <a:solidFill>
            <a:srgbClr val="C6E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7C8F0"/>
                </a:solidFill>
                <a:latin typeface="Helvetica Neue"/>
              </a:rPr>
              <a:t>SEMICON INDIA HACKATHON 2026  ·  IDEA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Avenir Next"/>
              </a:rPr>
              <a:t>SpectraRestore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B7C6DA"/>
                </a:solidFill>
                <a:latin typeface="Helvetica Neue"/>
              </a:rPr>
              <a:t>Fast Restoration of Semiconductor Inspection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 w="12700">
            <a:solidFill>
              <a:srgbClr val="C6E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92150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6E84B"/>
                </a:solidFill>
                <a:latin typeface="Helvetica Neue"/>
              </a:rPr>
              <a:t>KLA · TRACK 1 · PS01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880360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 w="12700">
            <a:solidFill>
              <a:srgbClr val="37C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86200" y="2921508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37C8F0"/>
                </a:solidFill>
                <a:latin typeface="Helvetica Neue"/>
              </a:rPr>
              <a:t>AI-BASED IMAGE RESTORATION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venir Next"/>
              </a:rPr>
              <a:t>TEAM &lt;TEAM NAME&gt;  ·  &lt;COLLEGE NAME&gt;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3977639"/>
          <a:ext cx="10789920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Member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Role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Branch / Year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Contact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&lt;Member 1&gt;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Team Lead · Model architecture &amp; training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&lt;Branch, Year&gt;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&lt;email / phone&gt;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&lt;Member 2&gt;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Data pipeline &amp; augmentation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&lt;Branch, Year&gt;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&lt;email&gt;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&lt;Member 3&gt;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Evaluation, metrics &amp; benchmarking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&lt;Branch, Year&gt;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&lt;email&gt;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&lt;Member 4&gt;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Repo, documentation &amp; presentation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&lt;Branch, Year&gt;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&lt;email&gt;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E849E"/>
                </a:solidFill>
                <a:latin typeface="Helvetica Neue"/>
              </a:rPr>
              <a:t>Submission: TeamName_KLA_PS01.pdf   ·   GitHub repository linked on Slide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48640" cy="50292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37C8F0"/>
                </a:solidFill>
                <a:latin typeface="Helvetica Neue"/>
              </a:rPr>
              <a:t>SLIDE 2 · PROBLEM STATEMENT ADDRESSED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Avenir Next"/>
              </a:rPr>
              <a:t>AI-Based Restoration of Degraded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E849E"/>
                </a:solidFill>
                <a:latin typeface="Helvetica Neue"/>
              </a:rPr>
              <a:t>02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849E"/>
                </a:solidFill>
                <a:latin typeface="Helvetica Neue"/>
              </a:rPr>
              <a:t>SEMICON India Hackathon 2026   ·   KLA Track 1 — AI-Based Restoration of Degraded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5577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C6E84B"/>
                </a:solidFill>
                <a:latin typeface="Avenir Next"/>
              </a:rPr>
              <a:t>Why this matters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B7C6DA"/>
                </a:solidFill>
                <a:latin typeface="Helvetica Neue"/>
              </a:rPr>
              <a:t>Inspection tools capture microscopic grayscale images of chip structures to catch defects. A single pixel of noise or one lost detail can hide a defect — and a missed defect is a failed chip.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B7C6DA"/>
                </a:solidFill>
                <a:latin typeface="Helvetica Neue"/>
              </a:rPr>
              <a:t>Today, engineers simply tolerate degraded images. Learned restoration upgrades every inspection tool's image quality in software — better defect detectability with zero new hardware, directly serving yield.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94760"/>
            <a:ext cx="55778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C6E84B"/>
                </a:solidFill>
                <a:latin typeface="Avenir Next"/>
              </a:rPr>
              <a:t>The task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Learn one model:  degraded 128² / 256² input  →  clean 2× output in [0, 1].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B7C6DA"/>
                </a:solidFill>
                <a:latin typeface="Helvetica Neue"/>
              </a:rPr>
              <a:t>Judged on SSIM · pSNR · LPIPS, out-of-distribution robustness, and inference time on an H100 GPU.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1">
                <a:solidFill>
                  <a:srgbClr val="6E849E"/>
                </a:solidFill>
                <a:latin typeface="Helvetica Neue"/>
              </a:rPr>
              <a:t>KLA's own guidance: degradations “may appear in any order” — so we invert the mapping from pairs instead of modelling the degradation 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81328"/>
            <a:ext cx="5257800" cy="1389888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481328"/>
            <a:ext cx="54864" cy="1389888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1627632"/>
            <a:ext cx="48554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7C8F0"/>
                </a:solidFill>
                <a:latin typeface="Avenir Next"/>
              </a:rPr>
              <a:t>1 · Speckle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11680"/>
            <a:ext cx="4855464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Multiplicative grain that pushes pixel values OUTSIDE [0, 1] while ground truth stays in [0, 1] — “a feature, not a bug” per KLA. Must be removed without blurring real 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5257800" cy="1389888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3017520"/>
            <a:ext cx="54864" cy="1389888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3163824"/>
            <a:ext cx="48554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7C8F0"/>
                </a:solidFill>
                <a:latin typeface="Avenir Next"/>
              </a:rPr>
              <a:t>2 · Additive Gaussian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547872"/>
            <a:ext cx="4855464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Softens edges and washes out fine structure. Sharpness must return without ringing or artificial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553712"/>
            <a:ext cx="5257800" cy="1389888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4553712"/>
            <a:ext cx="54864" cy="1389888"/>
          </a:xfrm>
          <a:prstGeom prst="rect">
            <a:avLst/>
          </a:prstGeom>
          <a:solidFill>
            <a:srgbClr val="C6E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4700016"/>
            <a:ext cx="48554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6E84B"/>
                </a:solidFill>
                <a:latin typeface="Avenir Next"/>
              </a:rPr>
              <a:t>3 · 2× downsampling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5084064"/>
            <a:ext cx="4855464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512² arrives as 256² (or 256² as 128²). Fine periodic detail is destroyed and must be reconstructed at 2× resolution.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48640" cy="50292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37C8F0"/>
                </a:solidFill>
                <a:latin typeface="Helvetica Neue"/>
              </a:rPr>
              <a:t>SLIDE 3 · IDEA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Avenir Next"/>
              </a:rPr>
              <a:t>One fast network, joint denoise + 2× super-resolution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E849E"/>
                </a:solidFill>
                <a:latin typeface="Helvetica Neue"/>
              </a:rPr>
              <a:t>03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849E"/>
                </a:solidFill>
                <a:latin typeface="Helvetica Neue"/>
              </a:rPr>
              <a:t>SEMICON India Hackathon 2026   ·   KLA Track 1 — AI-Based Restoration of Degraded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Helvetica Neue"/>
              </a:rPr>
              <a:t>A single NAFNet-based image-to-image network restores all three degradations in one forward pass — trained with a metric-matched loss (Charbonnier + SSIM + FFT + LPIPS) and degradation augmentation for out-of-distribution robustness.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3593592" cy="1874519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606040"/>
            <a:ext cx="54864" cy="1874519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2752344"/>
            <a:ext cx="31912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7C8F0"/>
                </a:solidFill>
                <a:latin typeface="Avenir Next"/>
              </a:rPr>
              <a:t>Joint model, not a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136392"/>
            <a:ext cx="3191256" cy="1197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Denoise-then-upscale propagates errors between stages and doubles latency. One network shares features across denoising and detail reconstruction — faster AND better.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606040"/>
            <a:ext cx="3593592" cy="1874519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9392" y="2606040"/>
            <a:ext cx="54864" cy="1874519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2752344"/>
            <a:ext cx="31912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7C8F0"/>
                </a:solidFill>
                <a:latin typeface="Avenir Next"/>
              </a:rPr>
              <a:t>Regression, not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36392"/>
            <a:ext cx="3191256" cy="1197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No GAN, no diffusion. Generative models hallucinate texture — a hallucinated edge can fake or hide a defect. Regression directly optimises the announced metrics in a single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2606040"/>
            <a:ext cx="3593592" cy="1874519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55864" y="2606040"/>
            <a:ext cx="54864" cy="1874519"/>
          </a:xfrm>
          <a:prstGeom prst="rect">
            <a:avLst/>
          </a:prstGeom>
          <a:solidFill>
            <a:srgbClr val="C6E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2" y="2752344"/>
            <a:ext cx="31912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6E84B"/>
                </a:solidFill>
                <a:latin typeface="Avenir Next"/>
              </a:rPr>
              <a:t>Compute where it's cheap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3136392"/>
            <a:ext cx="3191256" cy="1197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All heavy processing runs at LOW input resolution (~4× cheaper than at 2×); upsampling happens only at the very end. This is why the design wins the H100 timing benchmark.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4709160"/>
          <a:ext cx="11155680" cy="1508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Degradation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How the design handles it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Speckle (out-of-range values)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No input clipping; per-image standardisation absorbs the extended range; residual learning preserves true structure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Gaussian noise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Denoising backbone + SSIM &amp; FFT loss terms restore edge sharpness without ringing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2× resolution loss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PixelShuffle sub-pixel tail reconstructs detail; FFT loss supervises the periodic spectrum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48640" cy="50292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37C8F0"/>
                </a:solidFill>
                <a:latin typeface="Helvetica Neue"/>
              </a:rPr>
              <a:t>SLIDE 4 ·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Avenir Next"/>
              </a:rPr>
              <a:t>Architecture — NAFNet-SR2× and the training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E849E"/>
                </a:solidFill>
                <a:latin typeface="Helvetica Neue"/>
              </a:rPr>
              <a:t>04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849E"/>
                </a:solidFill>
                <a:latin typeface="Helvetica Neue"/>
              </a:rPr>
              <a:t>SEMICON India Hackathon 2026   ·   KLA Track 1 — AI-Based Restoration of Degraded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7C6DA"/>
                </a:solidFill>
                <a:latin typeface="Avenir Next"/>
              </a:rPr>
              <a:t>Degraded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B7C6DA"/>
                </a:solidFill>
                <a:latin typeface="Helvetica Neue"/>
              </a:rPr>
              <a:t>1 × H × W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B7C6DA"/>
                </a:solidFill>
                <a:latin typeface="Helvetica Neue"/>
              </a:rPr>
              <a:t>values may exceed [0,1]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160020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1691640"/>
            <a:ext cx="1380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7C8F0"/>
                </a:solidFill>
                <a:latin typeface="Avenir Next"/>
              </a:rPr>
              <a:t>Standardise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011680"/>
            <a:ext cx="1417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B7C6DA"/>
                </a:solidFill>
                <a:latin typeface="Helvetica Neue"/>
              </a:rPr>
              <a:t>per-image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B7C6DA"/>
                </a:solidFill>
                <a:latin typeface="Helvetica Neue"/>
              </a:rPr>
              <a:t>(x − μ) / 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600200"/>
            <a:ext cx="3017520" cy="105156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691640"/>
            <a:ext cx="27980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7C8F0"/>
                </a:solidFill>
                <a:latin typeface="Avenir Next"/>
              </a:rPr>
              <a:t>NAFNet U-Net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011680"/>
            <a:ext cx="28346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B7C6DA"/>
                </a:solidFill>
                <a:latin typeface="Helvetica Neue"/>
              </a:rPr>
              <a:t>enc [2,2,4,8] · mid 12 · dec [2,2,2,2]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B7C6DA"/>
                </a:solidFill>
                <a:latin typeface="Helvetica Neue"/>
              </a:rPr>
              <a:t>width 32 · at input resolution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71816" y="160020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81544" y="1691640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37C8F0"/>
                </a:solidFill>
                <a:latin typeface="Avenir Next"/>
              </a:rPr>
              <a:t>PixelShuffle ×2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2011680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B7C6DA"/>
                </a:solidFill>
                <a:latin typeface="Helvetica Neue"/>
              </a:rPr>
              <a:t>sub-pixel conv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B7C6DA"/>
                </a:solidFill>
                <a:latin typeface="Helvetica Neue"/>
              </a:rPr>
              <a:t>learned upsampling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160020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20656" y="1691640"/>
            <a:ext cx="16550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6E84B"/>
                </a:solidFill>
                <a:latin typeface="Avenir Next"/>
              </a:rPr>
              <a:t>Restored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2011680"/>
            <a:ext cx="16916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B7C6DA"/>
                </a:solidFill>
                <a:latin typeface="Helvetica Neue"/>
              </a:rPr>
              <a:t>1 × 2H × 2W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B7C6DA"/>
                </a:solidFill>
                <a:latin typeface="Helvetica Neue"/>
              </a:rPr>
              <a:t>clamped to [0,1] at save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299716" y="2011680"/>
            <a:ext cx="228600" cy="237744"/>
          </a:xfrm>
          <a:prstGeom prst="rightArrow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4155948" y="2011680"/>
            <a:ext cx="228600" cy="237744"/>
          </a:xfrm>
          <a:prstGeom prst="rightArrow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7429500" y="2011680"/>
            <a:ext cx="228600" cy="237744"/>
          </a:xfrm>
          <a:prstGeom prst="rightArrow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9468612" y="2011680"/>
            <a:ext cx="228600" cy="237744"/>
          </a:xfrm>
          <a:prstGeom prst="rightArrow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277063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6E84B"/>
                </a:solidFill>
                <a:latin typeface="Helvetica Neue"/>
              </a:rPr>
              <a:t>+  global residual skip: noisy bilinear-upsampled input (absolute intensity) + learned correction. Input-only standardisation — output stays in GT space (no degraded mean/std re-applied).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4290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3429000"/>
            <a:ext cx="54864" cy="1371600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" y="3575304"/>
            <a:ext cx="50840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7C8F0"/>
                </a:solidFill>
                <a:latin typeface="Avenir Next"/>
              </a:rPr>
              <a:t>Loss — matched to the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3959352"/>
            <a:ext cx="50840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1.00 Charbonnier (pSNR proxy)  +  0.20 (1−SSIM)  +  0.05 FFT-L1 (periodic detail)  +  0.10 LPIPS enabled after 20% warm-up (prevents early artifacts). No adversarial loss.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4290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3429000"/>
            <a:ext cx="54864" cy="1371600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73368" y="3575304"/>
            <a:ext cx="50840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7C8F0"/>
                </a:solidFill>
                <a:latin typeface="Avenir Next"/>
              </a:rPr>
              <a:t>Optimisation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3959352"/>
            <a:ext cx="50840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AdamW · LR 3e-4 → cosine to 1e-6 · ~200k iters · bf16 mixed precision · EMA 0.999 (EMA checkpoint ships) · checkpoint chosen by combined val SSIM + pSNR + (1−LPIPS).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9377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" y="4937760"/>
            <a:ext cx="54864" cy="1371600"/>
          </a:xfrm>
          <a:prstGeom prst="rect">
            <a:avLst/>
          </a:prstGeom>
          <a:solidFill>
            <a:srgbClr val="C6E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" y="5084064"/>
            <a:ext cx="50840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6E84B"/>
                </a:solidFill>
                <a:latin typeface="Avenir Next"/>
              </a:rPr>
              <a:t>Data &amp; augmentation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" y="5468112"/>
            <a:ext cx="50840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Held-out val/ split · aligned random crops (128² in / 256² GT) · flips + 90° rotations only · degradation aug: extra speckle / Gaussian / mild blur (p≈0.3).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9377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72200" y="4937760"/>
            <a:ext cx="54864" cy="1371600"/>
          </a:xfrm>
          <a:prstGeom prst="rect">
            <a:avLst/>
          </a:prstGeom>
          <a:solidFill>
            <a:srgbClr val="C6E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73368" y="5084064"/>
            <a:ext cx="50840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6E84B"/>
                </a:solidFill>
                <a:latin typeface="Avenir Next"/>
              </a:rPr>
              <a:t>Inference (what KLA benchmarks)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5468112"/>
            <a:ext cx="5084064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FP16 + channels_last, single forward pass · ~29.2M params (width 32 default) · measure latency on target GPU · fast (~15M) preset if timing dominates · TTA off by default.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48640" cy="50292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37C8F0"/>
                </a:solidFill>
                <a:latin typeface="Helvetica Neue"/>
              </a:rPr>
              <a:t>SLIDE 5 · INNOVATION &amp; UNIQUENESS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Avenir Next"/>
              </a:rPr>
              <a:t>What makes this approach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E849E"/>
                </a:solidFill>
                <a:latin typeface="Helvetica Neue"/>
              </a:rPr>
              <a:t>05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849E"/>
                </a:solidFill>
                <a:latin typeface="Helvetica Neue"/>
              </a:rPr>
              <a:t>SEMICON India Hackathon 2026   ·   KLA Track 1 — AI-Based Restoration of Degraded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4864" cy="2103120"/>
          </a:xfrm>
          <a:prstGeom prst="rect">
            <a:avLst/>
          </a:prstGeom>
          <a:solidFill>
            <a:srgbClr val="C6E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700784"/>
            <a:ext cx="50840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6E84B"/>
                </a:solidFill>
                <a:latin typeface="Avenir Next"/>
              </a:rPr>
              <a:t>1 · Degradation augmentation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84832"/>
            <a:ext cx="5084064" cy="1426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With p≈0.3 we inject EXTRA randomised speckle, Gaussian, or mild blur into already-degraded inputs (targets unchanged). Aligns with KLA webinar factors and widens the degradation family. Ablate with vs without augmentation. True OOD may also be new structures.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4864" cy="2103120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700784"/>
            <a:ext cx="50840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7C8F0"/>
                </a:solidFill>
                <a:latin typeface="Avenir Next"/>
              </a:rPr>
              <a:t>2 · Metric-aligned composite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084832"/>
            <a:ext cx="5084064" cy="1426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Charbonnier (pSNR proxy) + SSIM + FFT-L1 + LPIPS (after warm-up). These are the metrics we report on slides; H100 quality scoring is not fully specified. FFT term targets periodic semiconductor structure that plain L1 tends to blur.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54864" cy="2103120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3986784"/>
            <a:ext cx="50840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7C8F0"/>
                </a:solidFill>
                <a:latin typeface="Avenir Next"/>
              </a:rPr>
              <a:t>3 · Input-only standardisation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370832"/>
            <a:ext cx="5084064" cy="1426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Per-image standardisation on the INPUT only absorbs out-of-range speckle and source shifts. We do NOT re-apply degraded mean/std to the output — predictions stay in absolute GT space ([0,1]), as required by KLA range notes.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4048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840480"/>
            <a:ext cx="54864" cy="2103120"/>
          </a:xfrm>
          <a:prstGeom prst="rect">
            <a:avLst/>
          </a:prstGeom>
          <a:solidFill>
            <a:srgbClr val="C6E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3986784"/>
            <a:ext cx="50840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6E84B"/>
                </a:solidFill>
                <a:latin typeface="Avenir Next"/>
              </a:rPr>
              <a:t>4 · Speed as a design 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370832"/>
            <a:ext cx="5084064" cy="1426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Attention-free NAFNet backbone, compute at low resolution, FP16 inference. Size presets: default ~29.2M, fast ~15M. Report a measured quality-vs-latency curve. Regression-only so the model cannot hallucinate defects — an argument for metrology judges.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758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48640" cy="50292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37C8F0"/>
                </a:solidFill>
                <a:latin typeface="Helvetica Neue"/>
              </a:rPr>
              <a:t>SLIDE 6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Avenir Next"/>
              </a:rPr>
              <a:t>Restoration quality on the held-out validation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E849E"/>
                </a:solidFill>
                <a:latin typeface="Helvetica Neue"/>
              </a:rPr>
              <a:t>06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849E"/>
                </a:solidFill>
                <a:latin typeface="Helvetica Neue"/>
              </a:rPr>
              <a:t>SEMICON India Hackathon 2026   ·   KLA Track 1 — AI-Based Restoration of Degraded Images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6675119" cy="1691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7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2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Metric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Degraded input (baseline)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Ours (restored)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SSIM  ↑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&lt;baseline&gt;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&lt;result&gt;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pSNR (dB)  ↑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&lt;baseline&gt;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&lt;result&gt;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LPIPS  ↓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&lt;baseline&gt;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&lt;result&gt;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Inference (ms/img, FP16)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7C6DA"/>
                          </a:solidFill>
                          <a:latin typeface="Helvetica Neue"/>
                        </a:rPr>
                        <a:t>&lt;result&gt;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60920" y="1554480"/>
            <a:ext cx="4297680" cy="169164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60920" y="1554480"/>
            <a:ext cx="54864" cy="1691640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62088" y="170078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7C8F0"/>
                </a:solidFill>
                <a:latin typeface="Avenir Next"/>
              </a:rPr>
              <a:t>OOD ablation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2088" y="2084832"/>
            <a:ext cx="3895344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B7C6DA"/>
                </a:solidFill>
                <a:latin typeface="Helvetica Neue"/>
              </a:rPr>
              <a:t>Same table computed with vs without degradation augmentation on shifted-noise data — the number that proves generalisation.
&lt;fill after training&gt;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6E84B"/>
                </a:solidFill>
                <a:latin typeface="Avenir Next"/>
              </a:rPr>
              <a:t>Visual evidence — degraded input → our restoration → ground truth (with |error| heat-map)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8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0F2440"/>
          </a:solidFill>
          <a:ln w="9525">
            <a:solidFill>
              <a:srgbClr val="6E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617720"/>
            <a:ext cx="2679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E849E"/>
                </a:solidFill>
                <a:latin typeface="Helvetica Neue"/>
              </a:rPr>
              <a:t>&lt;image&gt;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70448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7C6DA"/>
                </a:solidFill>
                <a:latin typeface="Helvetica Neue"/>
              </a:rPr>
              <a:t>Degraded 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1" y="384048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0F2440"/>
          </a:solidFill>
          <a:ln w="9525">
            <a:solidFill>
              <a:srgbClr val="6E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1" y="4617720"/>
            <a:ext cx="2679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E849E"/>
                </a:solidFill>
                <a:latin typeface="Helvetica Neue"/>
              </a:rPr>
              <a:t>&lt;image&gt;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1" y="5870448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7C6DA"/>
                </a:solidFill>
                <a:latin typeface="Helvetica Neue"/>
              </a:rPr>
              <a:t>Our restoration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384048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0F2440"/>
          </a:solidFill>
          <a:ln w="9525">
            <a:solidFill>
              <a:srgbClr val="6E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4617720"/>
            <a:ext cx="2679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E849E"/>
                </a:solidFill>
                <a:latin typeface="Helvetica Neue"/>
              </a:rPr>
              <a:t>&lt;image&gt;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5870448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7C6DA"/>
                </a:solidFill>
                <a:latin typeface="Helvetica Neue"/>
              </a:rPr>
              <a:t>Ground truth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9136" y="3840480"/>
            <a:ext cx="2679192" cy="1965960"/>
          </a:xfrm>
          <a:prstGeom prst="roundRect">
            <a:avLst>
              <a:gd name="adj" fmla="val 8000"/>
            </a:avLst>
          </a:prstGeom>
          <a:solidFill>
            <a:srgbClr val="0F2440"/>
          </a:solidFill>
          <a:ln w="9525">
            <a:solidFill>
              <a:srgbClr val="6E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89136" y="4617720"/>
            <a:ext cx="2679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E849E"/>
                </a:solidFill>
                <a:latin typeface="Helvetica Neue"/>
              </a:rPr>
              <a:t>&lt;image&gt;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5870448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7C6DA"/>
                </a:solidFill>
                <a:latin typeface="Helvetica Neue"/>
              </a:rPr>
              <a:t>|error| 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217920"/>
            <a:ext cx="11155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E849E"/>
                </a:solidFill>
                <a:latin typeface="Helvetica Neue"/>
              </a:rPr>
              <a:t>Include at least one hard case (fine periodic array) and 2–3 zoom levels — confusion-free evidence as the brief demands.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48640" cy="50292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37C8F0"/>
                </a:solidFill>
                <a:latin typeface="Helvetica Neue"/>
              </a:rPr>
              <a:t>SLIDE 7 · TECHNOLOGY &amp;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Avenir Next"/>
              </a:rPr>
              <a:t>Standard, reproducible, student-compute friendly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E849E"/>
                </a:solidFill>
                <a:latin typeface="Helvetica Neue"/>
              </a:rPr>
              <a:t>07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849E"/>
                </a:solidFill>
                <a:latin typeface="Helvetica Neue"/>
              </a:rPr>
              <a:t>SEMICON India Hackathon 2026   ·   KLA Track 1 — AI-Based Restoration of Degraded Images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5852160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Item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Choice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Framework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PyTorch 2.x + lpips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Model size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~29.2M default (w32) · ~15M fast · ~65M large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Training hardware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Single A100 / L4 / T4-class cloud GPU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Training time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~200k iters (batch sized to GPU; Colab T4: batch 4–8)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Inference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FP16, single pass · report measured ms/image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Data handling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Native range preserved; png / tif / npy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Reproducibility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Fixed seeds · logged configs · pip freeze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29400" y="1554480"/>
            <a:ext cx="5029200" cy="182880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29400" y="1554480"/>
            <a:ext cx="54864" cy="1828800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30568" y="1700784"/>
            <a:ext cx="46268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37C8F0"/>
                </a:solidFill>
                <a:latin typeface="Avenir Next"/>
              </a:rPr>
              <a:t>Why it's feasible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2084832"/>
            <a:ext cx="4626864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B7C6DA"/>
                </a:solidFill>
                <a:latin typeface="Helvetica Neue"/>
              </a:rPr>
              <a:t>Everything is standard and free of exotic dependencies. The model is deliberately small enough to train on student compute (Colab Pro / Kaggle), and a working checkpoint appears within hours — leaving time for the OOD ablation and visual assets.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566160"/>
            <a:ext cx="5029200" cy="2011680"/>
          </a:xfrm>
          <a:prstGeom prst="roundRect">
            <a:avLst>
              <a:gd name="adj" fmla="val 8000"/>
            </a:avLst>
          </a:prstGeom>
          <a:solidFill>
            <a:srgbClr val="13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29400" y="3566160"/>
            <a:ext cx="54864" cy="2011680"/>
          </a:xfrm>
          <a:prstGeom prst="rect">
            <a:avLst/>
          </a:prstGeom>
          <a:solidFill>
            <a:srgbClr val="C6E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3712464"/>
            <a:ext cx="462686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6E84B"/>
                </a:solidFill>
                <a:latin typeface="Avenir Next"/>
              </a:rPr>
              <a:t>Risk →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4096512"/>
            <a:ext cx="4626864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B7C6DA"/>
                </a:solidFill>
                <a:latin typeface="Helvetica Neue"/>
              </a:rPr>
              <a:t>Timing weighted heavily → switch to fast (~15M) preset
OOD / blur variants → degradation aug (noise + mild blur)
Format surprises → loader auto-detects; verify on real data first
Filename scoring → evaluate.py writes same names as inputs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48640" cy="50292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37C8F0"/>
                </a:solidFill>
                <a:latin typeface="Helvetica Neue"/>
              </a:rPr>
              <a:t>SLIDE 8 · GITHUB &amp; VIDEO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Avenir Next"/>
              </a:rPr>
              <a:t>Repository &amp;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E849E"/>
                </a:solidFill>
                <a:latin typeface="Helvetica Neue"/>
              </a:rPr>
              <a:t>08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849E"/>
                </a:solidFill>
                <a:latin typeface="Helvetica Neue"/>
              </a:rPr>
              <a:t>SEMICON India Hackathon 2026   ·   KLA Track 1 — AI-Based Restoration of Degraded Images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00784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37C8F0"/>
                </a:solidFill>
                <a:latin typeface="Helvetica Neue"/>
              </a:rPr>
              <a:t>GitHub (mandatory):   github.com/&lt;org&gt;/&lt;repo&gt;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B7C6DA"/>
                </a:solidFill>
                <a:latin typeface="Helvetica Neue"/>
              </a:rPr>
              <a:t>Demo video (optional):   &lt;link — screen capture of evaluate.py restoring the test set&gt;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6E84B"/>
                </a:solidFill>
                <a:latin typeface="Avenir Next"/>
              </a:rPr>
              <a:t>Repository contents — exactly per the KLA checklist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108960"/>
          <a:ext cx="11155680" cy="26813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82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#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Item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C8F0"/>
                          </a:solidFill>
                          <a:latin typeface="Helvetica Neue"/>
                        </a:rPr>
                        <a:t>What we ship</a:t>
                      </a:r>
                    </a:p>
                  </a:txBody>
                  <a:tcPr marT="36576" marB="36576"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README.md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Clone → install → download weights → run inference in ≤5 commands, no contact needed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evaluate.py (standalone)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Takes --input_dir and --output_dir · same output filenames as inputs · auto-loads weights · zero manual edits · fresh-machine tested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train.py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Reproduces the full training run from scratch (config + seeds)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Trained weights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EMA checkpoint (.pt) via Git LFS / Drive / HuggingFace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outputs/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Actual restored test images produced by our model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requirements.txt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B7C6DA"/>
                          </a:solidFill>
                          <a:latin typeface="Helvetica Neue"/>
                        </a:rPr>
                        <a:t>Full pip freeze from the training environment</a:t>
                      </a:r>
                    </a:p>
                  </a:txBody>
                  <a:tcPr marT="36576" marB="36576" anchor="ctr">
                    <a:solidFill>
                      <a:srgbClr val="13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26D6D"/>
                </a:solidFill>
                <a:latin typeface="Helvetica Neue"/>
              </a:rPr>
              <a:t>The evaluation script is the critical file — KLA runs it AS-IS on the H100 to score quality and speed. It is tested on a clean machine before submission.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48640" cy="50292"/>
          </a:xfrm>
          <a:prstGeom prst="rect">
            <a:avLst/>
          </a:prstGeom>
          <a:solidFill>
            <a:srgbClr val="37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37C8F0"/>
                </a:solidFill>
                <a:latin typeface="Helvetica Neue"/>
              </a:rPr>
              <a:t>SLIDE 9 ·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900" b="1">
                <a:solidFill>
                  <a:srgbClr val="FFFFFF"/>
                </a:solidFill>
                <a:latin typeface="Avenir Next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E849E"/>
                </a:solidFill>
                <a:latin typeface="Helvetica Neue"/>
              </a:rPr>
              <a:t>09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849E"/>
                </a:solidFill>
                <a:latin typeface="Helvetica Neue"/>
              </a:rPr>
              <a:t>SEMICON India Hackathon 2026   ·   KLA Track 1 — AI-Based Restoration of Degraded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1115568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B7C6DA"/>
                </a:solidFill>
                <a:latin typeface="Helvetica Neue"/>
              </a:rPr>
              <a:t>1.  Chen, L. et al. — Simple Baselines for Image Restoration (NAFNet), ECCV 2022.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B7C6DA"/>
                </a:solidFill>
                <a:latin typeface="Helvetica Neue"/>
              </a:rPr>
              <a:t>2.  Shi, W. et al. — Real-Time Single Image and Video Super-Resolution Using an Efficient Sub-Pixel Convolutional Neural Network (PixelShuffle), CVPR 2016.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B7C6DA"/>
                </a:solidFill>
                <a:latin typeface="Helvetica Neue"/>
              </a:rPr>
              <a:t>3.  Zhang, R. et al. — The Unreasonable Effectiveness of Deep Features as a Perceptual Metric (LPIPS), CVPR 2018.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B7C6DA"/>
                </a:solidFill>
                <a:latin typeface="Helvetica Neue"/>
              </a:rPr>
              <a:t>4.  Zhai, L. et al. — A Comprehensive Review of Deep Learning-Based Real-World Image Restoration, IEEE Access 11, 2023.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B7C6DA"/>
                </a:solidFill>
                <a:latin typeface="Helvetica Neue"/>
              </a:rPr>
              <a:t>5.  Kumar, T. et al. — Image Data Augmentation Approaches: A Comprehensive Survey and Future Directions, IEEE Access 12, 2024.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B7C6DA"/>
                </a:solidFill>
                <a:latin typeface="Helvetica Neue"/>
              </a:rPr>
              <a:t>6.  Terven, J. et al. — A Comprehensive Survey of Loss Functions and Metrics in Deep Learning, Artificial Intelligence Review 58, 195, 2025.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B7C6DA"/>
                </a:solidFill>
                <a:latin typeface="Helvetica Neue"/>
              </a:rPr>
              <a:t>7.  Monga, V. et al. — Algorithm Unrolling: Interpretable, Efficient Deep Learning for Signal and Image Processing, IEEE Signal Processing Magazine 38(2), 2021.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B7C6DA"/>
                </a:solidFill>
                <a:latin typeface="Helvetica Neue"/>
              </a:rPr>
              <a:t>8.  Wang, Z. et al. — Image Quality Assessment: From Error Visibility to Structural Similarity (SSIM), IEEE Transactions on Image Processing, 2004.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6E84B"/>
                </a:solidFill>
                <a:latin typeface="Helvetica Neue"/>
              </a:rPr>
              <a:t>References 4–7 are the papers cited in KLA's own problem-statement webinar deck — our augmentation and loss choices are justified against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1991</Words>
  <Application>Microsoft Macintosh PowerPoint</Application>
  <PresentationFormat>Widescreen</PresentationFormat>
  <Paragraphs>200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Avenir Next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CHARAN SURESH (RA2511056010344)</cp:lastModifiedBy>
  <cp:revision>2</cp:revision>
  <dcterms:created xsi:type="dcterms:W3CDTF">2013-01-27T09:14:16Z</dcterms:created>
  <dcterms:modified xsi:type="dcterms:W3CDTF">2026-08-09T17:22:38Z</dcterms:modified>
  <cp:category/>
</cp:coreProperties>
</file>